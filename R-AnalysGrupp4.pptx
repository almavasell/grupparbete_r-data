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169"/>
    <a:srgbClr val="156082"/>
    <a:srgbClr val="799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8C580D-1750-7B3A-2159-1CB1ED8D04AC}" v="69" dt="2026-04-22T12:48:25.982"/>
    <p1510:client id="{10C0F5FF-D688-DE44-4D3B-FFC99EC4B4F9}" v="3" dt="2026-04-21T11:20:17.783"/>
    <p1510:client id="{1552928D-B79D-AF73-2DB2-DBF8C24565C8}" v="356" dt="2026-04-22T08:49:18.239"/>
    <p1510:client id="{385AE082-FC35-6E7A-F48D-5B1EACD35B32}" v="2077" dt="2026-04-21T19:48:23.661"/>
    <p1510:client id="{C7A09E55-E5B6-4B16-9F1B-BDADDDF56D22}" v="1" dt="2026-04-23T07:44:39.009"/>
    <p1510:client id="{EAD22AF1-9042-9A94-B1E0-76350CF139C2}" v="2" dt="2026-04-22T12:43:17.856"/>
    <p1510:client id="{ECAA810C-A797-9865-A351-912B0F8B08C2}" v="181" dt="2026-04-22T12:17:26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38D332D-47BB-0814-05A3-3D67977F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349EC83-6366-5D3F-129B-B35A4D054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62A7276-1984-6112-26A6-6B55CFFA0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1989EEF-63BB-4812-50CE-0F488093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3EC4B48-A042-F98E-A930-2C037CF3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174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AD1E61B-DB12-95D6-C813-16C489C3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4E773F-0E80-D791-0EF2-D19E8559E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16AE3F0-30FD-F2CF-464B-5BBB83F36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915AC63-E2F6-1F4E-4188-B558556B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EB5B70E-67E7-5311-0A74-30FE34C90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708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C0B9A8E-7E16-F38C-6923-A38F79E22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CC2C9F0-B3C2-3BD8-BBBF-B928ED847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068BD09-F939-29BC-DAE2-7A10DE14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7693509-6876-BCA8-1F44-CDDB106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620D983-F72C-6DD1-7309-844C9F229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307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22B5FE5-E704-DF9E-F292-981B92AE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E18580F-F14F-0F64-1C7A-37BAE5403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779AC22-C6F1-C5CD-C4C9-11F37CD0A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4AAFD28-78BD-304A-0D72-4CB0D9F0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38D2A21-4B9D-3AB4-CEEB-7A31BB0D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5B55A8E-5CAE-38C7-059D-D33A773C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615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5B76604-2F19-4845-44E3-24B87530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8B73320-9D42-D5D7-0F01-43C8143F2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F5E18870-9B83-0C62-50F3-02A2237B1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7E82AFC-D114-C9AF-402C-696360CC3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6E9F215-432A-5755-BEE0-432643765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C289C75B-E541-7A09-9CCE-C9B89B37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623E5F08-E1DC-DB52-874B-30E26A92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85C80567-8DC6-C43F-89BD-2858FA423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155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FB6177A-2610-4D72-5B51-45688F33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07692BD-325D-F12A-0B5A-C9A50C70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60468C4-A216-BD54-89A8-9760F3FD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C2AC4A9-2328-4288-51FF-A38818BC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599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FAFCF921-F03B-3F52-FF74-083DB741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0BC5123-1D75-1A4F-70AF-011F5EAA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DEAC9861-A5D2-2B93-C709-8C8FB7F8A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396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5323F0-36F5-73C2-BCA3-3075E1CFD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A818279-D33D-3BED-E21E-40C470CFD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AD62250-8D29-0236-06AC-A74C033F0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AD5DD68-C794-2CC1-0017-888C376C4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02ACB4F5-8836-B94A-1073-F4586171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088EA9F-2CB1-7D17-34C6-33EA026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669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14E719-869E-D6FA-CB6C-1F8389C37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4A6684C-5948-0306-637A-9F5601AE8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1B9DF38-45E9-443E-563D-338387EDC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F8EA6F3-11A9-BD07-5A9F-69DDDE68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CA16337D-C12B-93DF-25BE-35062FF0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7FABF83-A1C1-51B8-319B-E6B883EE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6443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BD05B69-F0EC-7E17-F200-D2E88423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A406B75-A388-00C9-9A01-6891501B7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C848C8D-5D4B-3B3D-8998-CFCA7DB7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0107519-BDAA-BD4E-C0C4-A89585D5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D12A3E9-893E-B6EB-7A0E-0EF0AA23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4302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A7C18FD7-974A-193C-4EE9-8986DC37B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E2C417F1-69DE-FC10-D132-2CE4CC00E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826004E-F4E4-3CAE-1EB9-10ABF3F88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B292BA3-8DCA-5908-DD20-B03E36EA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373ADB2-B787-8295-F59C-58E7A435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7769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BE2E291C-7543-96FF-5999-959500E4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4A7007B-DEC1-06F5-028A-EA61D0DF7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4B4ADA3-D3DE-106D-AFA4-CA3FAFCAA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EE53C-2E9D-45B6-B965-3A8EBF830381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050AD2C-71D7-906D-128E-9DF2F9EE1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491333F-67FD-3CF9-621E-5A94155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71C0C-FB91-4824-A5F6-95F200A8992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581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B0BC998-8814-F47A-180B-96FB11ACEC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>
                <a:solidFill>
                  <a:schemeClr val="accent1">
                    <a:lumMod val="75000"/>
                  </a:schemeClr>
                </a:solidFill>
              </a:rPr>
              <a:t>R - analys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74B891D8-8239-01BE-3CC7-954AE345E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>
                <a:solidFill>
                  <a:schemeClr val="accent1">
                    <a:lumMod val="75000"/>
                  </a:schemeClr>
                </a:solidFill>
                <a:latin typeface="Corbel Light" panose="020B0303020204020204" pitchFamily="34" charset="0"/>
                <a:cs typeface="Aparajita" panose="020B0502040204020203" pitchFamily="18" charset="0"/>
              </a:rPr>
              <a:t>Josefin - Alma - </a:t>
            </a:r>
            <a:r>
              <a:rPr lang="sv-SE" err="1">
                <a:solidFill>
                  <a:schemeClr val="accent1">
                    <a:lumMod val="75000"/>
                  </a:schemeClr>
                </a:solidFill>
                <a:latin typeface="Corbel Light" panose="020B0303020204020204" pitchFamily="34" charset="0"/>
                <a:cs typeface="Aparajita" panose="020B0502040204020203" pitchFamily="18" charset="0"/>
              </a:rPr>
              <a:t>Shara</a:t>
            </a:r>
            <a:r>
              <a:rPr lang="sv-SE">
                <a:solidFill>
                  <a:schemeClr val="accent1">
                    <a:lumMod val="75000"/>
                  </a:schemeClr>
                </a:solidFill>
                <a:latin typeface="Corbel Light" panose="020B0303020204020204" pitchFamily="34" charset="0"/>
                <a:cs typeface="Aparajita" panose="020B0502040204020203" pitchFamily="18" charset="0"/>
              </a:rPr>
              <a:t> - </a:t>
            </a:r>
            <a:r>
              <a:rPr lang="sv-SE" err="1">
                <a:solidFill>
                  <a:schemeClr val="accent1">
                    <a:lumMod val="75000"/>
                  </a:schemeClr>
                </a:solidFill>
                <a:latin typeface="Corbel Light" panose="020B0303020204020204" pitchFamily="34" charset="0"/>
                <a:cs typeface="Aparajita" panose="020B0502040204020203" pitchFamily="18" charset="0"/>
              </a:rPr>
              <a:t>Jazdan</a:t>
            </a:r>
            <a:r>
              <a:rPr lang="sv-SE">
                <a:solidFill>
                  <a:schemeClr val="accent1">
                    <a:lumMod val="75000"/>
                  </a:schemeClr>
                </a:solidFill>
                <a:latin typeface="Corbel Light" panose="020B0303020204020204" pitchFamily="34" charset="0"/>
                <a:cs typeface="Aparajita" panose="020B0502040204020203" pitchFamily="18" charset="0"/>
              </a:rPr>
              <a:t> - Ben - Alexander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182E4F18-FE2D-CB54-E08D-EDB9BAE49942}"/>
              </a:ext>
            </a:extLst>
          </p:cNvPr>
          <p:cNvSpPr/>
          <p:nvPr/>
        </p:nvSpPr>
        <p:spPr>
          <a:xfrm>
            <a:off x="59269" y="63212"/>
            <a:ext cx="12064998" cy="67101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96162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E726F2D-402E-9746-D931-70C092873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56" y="39584"/>
            <a:ext cx="11330709" cy="1331727"/>
          </a:xfrm>
          <a:noFill/>
        </p:spPr>
        <p:txBody>
          <a:bodyPr>
            <a:normAutofit/>
          </a:bodyPr>
          <a:lstStyle/>
          <a:p>
            <a:r>
              <a:rPr lang="sv-SE" sz="3600">
                <a:solidFill>
                  <a:schemeClr val="accent4">
                    <a:lumMod val="50000"/>
                  </a:schemeClr>
                </a:solidFill>
              </a:rPr>
              <a:t>Dataförståelse och förberedelser</a:t>
            </a: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F78D6ACA-1098-AFA4-9697-0BDAD26CEE6D}"/>
              </a:ext>
            </a:extLst>
          </p:cNvPr>
          <p:cNvSpPr/>
          <p:nvPr/>
        </p:nvSpPr>
        <p:spPr>
          <a:xfrm>
            <a:off x="59269" y="63212"/>
            <a:ext cx="12064998" cy="67101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DD368D-778C-52E4-503B-7A5CF9526F07}"/>
              </a:ext>
            </a:extLst>
          </p:cNvPr>
          <p:cNvSpPr/>
          <p:nvPr/>
        </p:nvSpPr>
        <p:spPr>
          <a:xfrm>
            <a:off x="372022" y="1237232"/>
            <a:ext cx="3639654" cy="5334738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533F8D-29C1-DE36-0A4C-669E3141A79A}"/>
              </a:ext>
            </a:extLst>
          </p:cNvPr>
          <p:cNvSpPr/>
          <p:nvPr/>
        </p:nvSpPr>
        <p:spPr>
          <a:xfrm>
            <a:off x="4271086" y="1237231"/>
            <a:ext cx="3639654" cy="5334738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1C8A09-E767-01BD-C773-196E7FCDF54F}"/>
              </a:ext>
            </a:extLst>
          </p:cNvPr>
          <p:cNvSpPr/>
          <p:nvPr/>
        </p:nvSpPr>
        <p:spPr>
          <a:xfrm>
            <a:off x="8199840" y="1237230"/>
            <a:ext cx="3639654" cy="5334738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ruta 7">
            <a:extLst>
              <a:ext uri="{FF2B5EF4-FFF2-40B4-BE49-F238E27FC236}">
                <a16:creationId xmlns:a16="http://schemas.microsoft.com/office/drawing/2014/main" id="{2C0FF1E7-4186-E420-146C-54201D7AC903}"/>
              </a:ext>
            </a:extLst>
          </p:cNvPr>
          <p:cNvSpPr txBox="1"/>
          <p:nvPr/>
        </p:nvSpPr>
        <p:spPr>
          <a:xfrm>
            <a:off x="590204" y="1710597"/>
            <a:ext cx="3191657" cy="4774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Dataset</a:t>
            </a:r>
            <a:endParaRPr lang="en-US" sz="2000" b="1" u="sng">
              <a:solidFill>
                <a:schemeClr val="bg2"/>
              </a:solidFill>
              <a:latin typeface="Abadi ExtraLigh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1 000 observationer </a:t>
            </a:r>
            <a:endParaRPr lang="en-US" b="1" u="sng">
              <a:solidFill>
                <a:schemeClr val="bg2"/>
              </a:solidFill>
              <a:latin typeface="Abadi ExtraLigh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16 variabler </a:t>
            </a:r>
            <a:endParaRPr lang="en-US" b="1" u="sng">
              <a:solidFill>
                <a:schemeClr val="bg2"/>
              </a:solidFill>
              <a:latin typeface="Abadi ExtraLigh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Order, kund, produkt, leverans</a:t>
            </a:r>
            <a:br>
              <a:rPr lang="sv-SE">
                <a:solidFill>
                  <a:schemeClr val="bg2"/>
                </a:solidFill>
                <a:latin typeface="Abadi ExtraLight"/>
              </a:rPr>
            </a:br>
            <a:endParaRPr lang="en-US" b="1" u="sng">
              <a:solidFill>
                <a:schemeClr val="bg2"/>
              </a:solidFill>
              <a:latin typeface="Abadi ExtraLigh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Datakvalitet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Fel datatyper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Saknade värden (NA)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Tomma fält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Inkonsikvent text</a:t>
            </a:r>
          </a:p>
          <a:p>
            <a:endParaRPr lang="sv-SE" b="1">
              <a:solidFill>
                <a:schemeClr val="bg2"/>
              </a:solidFill>
              <a:latin typeface="Abadi ExtraLight"/>
            </a:endParaRPr>
          </a:p>
          <a:p>
            <a:pPr marL="285750" indent="-285750">
              <a:buFont typeface="Arial"/>
              <a:buChar char="•"/>
            </a:pPr>
            <a:endParaRPr lang="sv-SE">
              <a:solidFill>
                <a:srgbClr val="E8E8E8"/>
              </a:solidFill>
              <a:latin typeface="Abadi ExtraLigh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sv-SE" b="1">
              <a:solidFill>
                <a:srgbClr val="E8E8E8"/>
              </a:solidFill>
              <a:latin typeface="Abadi ExtraLight"/>
            </a:endParaRPr>
          </a:p>
          <a:p>
            <a:endParaRPr lang="sv-SE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6" name="textruta 7">
            <a:extLst>
              <a:ext uri="{FF2B5EF4-FFF2-40B4-BE49-F238E27FC236}">
                <a16:creationId xmlns:a16="http://schemas.microsoft.com/office/drawing/2014/main" id="{5DF3F63E-28CF-F2DF-93A4-56DADBA6742D}"/>
              </a:ext>
            </a:extLst>
          </p:cNvPr>
          <p:cNvSpPr txBox="1"/>
          <p:nvPr/>
        </p:nvSpPr>
        <p:spPr>
          <a:xfrm>
            <a:off x="4578334" y="1710596"/>
            <a:ext cx="3033320" cy="41201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Datastädning</a:t>
            </a:r>
            <a:endParaRPr lang="en-US" sz="2000" b="1" u="sng">
              <a:solidFill>
                <a:schemeClr val="bg2"/>
              </a:solidFill>
              <a:latin typeface="Abadi ExtraLigh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Datum </a:t>
            </a:r>
            <a:r>
              <a:rPr lang="sv-SE">
                <a:solidFill>
                  <a:schemeClr val="bg2"/>
                </a:solidFill>
                <a:ea typeface="+mn-lt"/>
                <a:cs typeface="+mn-lt"/>
              </a:rPr>
              <a:t>→ </a:t>
            </a:r>
            <a:r>
              <a:rPr lang="sv-SE">
                <a:solidFill>
                  <a:schemeClr val="bg2"/>
                </a:solidFill>
                <a:latin typeface="Aptos"/>
              </a:rPr>
              <a:t> </a:t>
            </a:r>
            <a:r>
              <a:rPr lang="sv-SE">
                <a:solidFill>
                  <a:schemeClr val="bg2"/>
                </a:solidFill>
                <a:latin typeface="Abadi ExtraLight"/>
              </a:rPr>
              <a:t>date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Returstatus</a:t>
            </a:r>
            <a:r>
              <a:rPr lang="sv-SE">
                <a:solidFill>
                  <a:schemeClr val="bg2"/>
                </a:solidFill>
                <a:latin typeface="Abadi ExtraLight"/>
                <a:ea typeface="+mn-lt"/>
                <a:cs typeface="+mn-lt"/>
              </a:rPr>
              <a:t> </a:t>
            </a:r>
            <a:r>
              <a:rPr lang="sv-SE">
                <a:solidFill>
                  <a:schemeClr val="bg2"/>
                </a:solidFill>
                <a:ea typeface="+mn-lt"/>
                <a:cs typeface="+mn-lt"/>
              </a:rPr>
              <a:t>→ </a:t>
            </a:r>
            <a:r>
              <a:rPr lang="sv-SE">
                <a:solidFill>
                  <a:schemeClr val="bg2"/>
                </a:solidFill>
                <a:latin typeface="Aptos"/>
              </a:rPr>
              <a:t> logisk</a:t>
            </a:r>
            <a:endParaRPr lang="sv-SE">
              <a:solidFill>
                <a:schemeClr val="bg2"/>
              </a:solidFill>
              <a:latin typeface="Abadi ExtraLight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Rabatt</a:t>
            </a:r>
            <a:r>
              <a:rPr lang="sv-SE">
                <a:solidFill>
                  <a:schemeClr val="bg2"/>
                </a:solidFill>
                <a:latin typeface="Abadi ExtraLight"/>
                <a:ea typeface="+mn-lt"/>
                <a:cs typeface="+mn-lt"/>
              </a:rPr>
              <a:t> →</a:t>
            </a:r>
            <a:r>
              <a:rPr lang="sv-SE">
                <a:solidFill>
                  <a:schemeClr val="bg2"/>
                </a:solidFill>
                <a:ea typeface="+mn-lt"/>
                <a:cs typeface="+mn-lt"/>
              </a:rPr>
              <a:t> </a:t>
            </a:r>
            <a:r>
              <a:rPr lang="sv-SE">
                <a:solidFill>
                  <a:schemeClr val="bg2"/>
                </a:solidFill>
                <a:latin typeface="Aptos"/>
              </a:rPr>
              <a:t> </a:t>
            </a:r>
            <a:r>
              <a:rPr lang="sv-SE">
                <a:solidFill>
                  <a:schemeClr val="bg2"/>
                </a:solidFill>
                <a:latin typeface="Abadi ExtraLight"/>
              </a:rPr>
              <a:t>0 %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Leveranstid </a:t>
            </a:r>
            <a:r>
              <a:rPr lang="sv-SE">
                <a:solidFill>
                  <a:schemeClr val="bg2"/>
                </a:solidFill>
                <a:latin typeface="Abadi ExtraLight"/>
                <a:ea typeface="+mn-lt"/>
                <a:cs typeface="+mn-lt"/>
              </a:rPr>
              <a:t>→</a:t>
            </a:r>
            <a:r>
              <a:rPr lang="sv-SE">
                <a:solidFill>
                  <a:schemeClr val="bg2"/>
                </a:solidFill>
                <a:ea typeface="+mn-lt"/>
                <a:cs typeface="+mn-lt"/>
              </a:rPr>
              <a:t> </a:t>
            </a:r>
            <a:r>
              <a:rPr lang="sv-SE">
                <a:solidFill>
                  <a:schemeClr val="bg2"/>
                </a:solidFill>
                <a:latin typeface="Aptos"/>
              </a:rPr>
              <a:t> </a:t>
            </a:r>
            <a:r>
              <a:rPr lang="sv-SE">
                <a:solidFill>
                  <a:schemeClr val="bg2"/>
                </a:solidFill>
                <a:latin typeface="Abadi ExtraLight"/>
              </a:rPr>
              <a:t>NA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Tomma fält</a:t>
            </a:r>
            <a:r>
              <a:rPr lang="sv-SE">
                <a:solidFill>
                  <a:schemeClr val="bg2"/>
                </a:solidFill>
                <a:latin typeface="Abadi ExtraLight"/>
                <a:ea typeface="+mn-lt"/>
                <a:cs typeface="+mn-lt"/>
              </a:rPr>
              <a:t> →</a:t>
            </a:r>
            <a:r>
              <a:rPr lang="sv-SE">
                <a:solidFill>
                  <a:schemeClr val="bg2"/>
                </a:solidFill>
                <a:ea typeface="+mn-lt"/>
                <a:cs typeface="+mn-lt"/>
              </a:rPr>
              <a:t>  </a:t>
            </a:r>
            <a:r>
              <a:rPr lang="sv-SE">
                <a:solidFill>
                  <a:schemeClr val="bg2"/>
                </a:solidFill>
                <a:latin typeface="Abadi ExtraLight"/>
              </a:rPr>
              <a:t>NA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Text → Standardiserad</a:t>
            </a:r>
            <a:endParaRPr lang="sv-SE">
              <a:solidFill>
                <a:schemeClr val="bg2"/>
              </a:solidFill>
              <a:latin typeface="Apto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sv-SE">
              <a:solidFill>
                <a:schemeClr val="bg2"/>
              </a:solidFill>
              <a:latin typeface="Abadi ExtraLight"/>
            </a:endParaRPr>
          </a:p>
          <a:p>
            <a:endParaRPr lang="sv-SE" b="1">
              <a:solidFill>
                <a:srgbClr val="E8E8E8"/>
              </a:solidFill>
              <a:latin typeface="Abadi ExtraLight"/>
            </a:endParaRPr>
          </a:p>
          <a:p>
            <a:pPr marL="285750" indent="-285750">
              <a:buFont typeface="Arial"/>
              <a:buChar char="•"/>
            </a:pPr>
            <a:endParaRPr lang="sv-SE">
              <a:solidFill>
                <a:srgbClr val="E8E8E8"/>
              </a:solidFill>
              <a:latin typeface="Abadi ExtraLigh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sv-SE" b="1">
              <a:solidFill>
                <a:srgbClr val="E8E8E8"/>
              </a:solidFill>
              <a:latin typeface="Abadi ExtraLight"/>
            </a:endParaRPr>
          </a:p>
          <a:p>
            <a:endParaRPr lang="sv-SE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7" name="textruta 7">
            <a:extLst>
              <a:ext uri="{FF2B5EF4-FFF2-40B4-BE49-F238E27FC236}">
                <a16:creationId xmlns:a16="http://schemas.microsoft.com/office/drawing/2014/main" id="{B0C4A840-027D-7860-8D15-5427AF3BCA03}"/>
              </a:ext>
            </a:extLst>
          </p:cNvPr>
          <p:cNvSpPr txBox="1"/>
          <p:nvPr/>
        </p:nvSpPr>
        <p:spPr>
          <a:xfrm>
            <a:off x="8497190" y="1710596"/>
            <a:ext cx="3033320" cy="41478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Feature Engineering</a:t>
            </a:r>
            <a:endParaRPr lang="en-US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Ordervärde</a:t>
            </a:r>
            <a:endParaRPr lang="en-US">
              <a:solidFill>
                <a:schemeClr val="bg2"/>
              </a:solidFill>
              <a:latin typeface="Aptos" panose="02110004020202020204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Pris efter rabatt</a:t>
            </a:r>
            <a:endParaRPr lang="en-US">
              <a:solidFill>
                <a:schemeClr val="bg2"/>
              </a:solidFill>
              <a:latin typeface="Aptos" panose="02110004020202020204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Ordervärde efter rabatt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Rabattgrupper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Leveransgrupper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Månad (trend)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sv-SE" sz="2000" b="1">
              <a:solidFill>
                <a:srgbClr val="E8E8E8"/>
              </a:solidFill>
              <a:latin typeface="Abadi ExtraLight"/>
            </a:endParaRPr>
          </a:p>
          <a:p>
            <a:endParaRPr lang="sv-SE" b="1">
              <a:solidFill>
                <a:srgbClr val="E8E8E8"/>
              </a:solidFill>
              <a:latin typeface="Abadi ExtraLight"/>
            </a:endParaRPr>
          </a:p>
          <a:p>
            <a:pPr marL="285750" indent="-285750">
              <a:buFont typeface="Arial"/>
              <a:buChar char="•"/>
            </a:pPr>
            <a:endParaRPr lang="sv-SE">
              <a:solidFill>
                <a:srgbClr val="E8E8E8"/>
              </a:solidFill>
              <a:latin typeface="Abadi ExtraLigh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sv-SE" b="1">
              <a:solidFill>
                <a:srgbClr val="E8E8E8"/>
              </a:solidFill>
              <a:latin typeface="Abadi ExtraLight"/>
            </a:endParaRPr>
          </a:p>
          <a:p>
            <a:endParaRPr lang="sv-SE">
              <a:solidFill>
                <a:srgbClr val="000000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1638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629078-83EB-83B5-9E41-4D823D222CF9}"/>
              </a:ext>
            </a:extLst>
          </p:cNvPr>
          <p:cNvSpPr/>
          <p:nvPr/>
        </p:nvSpPr>
        <p:spPr>
          <a:xfrm rot="5400000">
            <a:off x="7119268" y="2109989"/>
            <a:ext cx="3675097" cy="5591689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B0F074-F7B3-B618-0628-E35957100588}"/>
              </a:ext>
            </a:extLst>
          </p:cNvPr>
          <p:cNvSpPr/>
          <p:nvPr/>
        </p:nvSpPr>
        <p:spPr>
          <a:xfrm rot="5400000">
            <a:off x="1342243" y="2092267"/>
            <a:ext cx="3657376" cy="5644855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8A6DEB3-2957-1AC6-0E1C-D5D09E33A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36813"/>
            <a:ext cx="10515600" cy="1325563"/>
          </a:xfrm>
        </p:spPr>
        <p:txBody>
          <a:bodyPr>
            <a:normAutofit/>
          </a:bodyPr>
          <a:lstStyle/>
          <a:p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Vilka produktkategorier verkar driva </a:t>
            </a:r>
            <a:br>
              <a:rPr lang="sv-SE" sz="3200">
                <a:solidFill>
                  <a:schemeClr val="accent4">
                    <a:lumMod val="50000"/>
                  </a:schemeClr>
                </a:solidFill>
              </a:rPr>
            </a:br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högst försäljning?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208C591B-A352-16FB-4F7E-E46540DE0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154" y="3184451"/>
            <a:ext cx="5400300" cy="3437679"/>
          </a:xfrm>
          <a:prstGeom prst="round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0036BEBF-37F2-5395-48FA-EDF96E1F1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19" y="3175591"/>
            <a:ext cx="5463486" cy="3464261"/>
          </a:xfrm>
          <a:prstGeom prst="round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C394CFAF-6225-632D-C980-E346DCBB0B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1809" y="1629161"/>
            <a:ext cx="9776199" cy="179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kumimoji="0" lang="sv-SE" sz="20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Abadi ExtraLight"/>
                <a:ea typeface="+mn-lt"/>
                <a:cs typeface="+mn-lt"/>
              </a:rPr>
              <a:t>Electronics har högst total försäljning </a:t>
            </a:r>
            <a:r>
              <a:rPr lang="sv-SE" sz="2000">
                <a:solidFill>
                  <a:schemeClr val="bg2"/>
                </a:solidFill>
                <a:latin typeface="Abadi ExtraLight"/>
                <a:ea typeface="+mn-lt"/>
                <a:cs typeface="+mn-lt"/>
              </a:rPr>
              <a:t>- följt av </a:t>
            </a:r>
            <a:r>
              <a:rPr kumimoji="0" lang="sv-SE" sz="20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Abadi ExtraLight"/>
                <a:ea typeface="+mn-lt"/>
                <a:cs typeface="+mn-lt"/>
              </a:rPr>
              <a:t>Home och Sports </a:t>
            </a:r>
            <a:endParaRPr lang="sv-SE">
              <a:solidFill>
                <a:schemeClr val="bg2"/>
              </a:solidFill>
              <a:latin typeface="Abadi ExtraLight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sv-SE" sz="2000">
                <a:solidFill>
                  <a:schemeClr val="bg2"/>
                </a:solidFill>
                <a:latin typeface="Abadi ExtraLight"/>
                <a:ea typeface="+mn-lt"/>
                <a:cs typeface="+mn-lt"/>
              </a:rPr>
              <a:t>Beauty har lägst försäljning</a:t>
            </a:r>
            <a:endParaRPr lang="sv-SE">
              <a:solidFill>
                <a:schemeClr val="bg2"/>
              </a:solidFill>
              <a:latin typeface="Abadi ExtraLight"/>
            </a:endParaRPr>
          </a:p>
          <a:p>
            <a:pPr>
              <a:buFont typeface="Arial"/>
              <a:buChar char="•"/>
            </a:pPr>
            <a:r>
              <a:rPr lang="sv-SE" sz="2000">
                <a:solidFill>
                  <a:schemeClr val="bg2"/>
                </a:solidFill>
                <a:latin typeface="Abadi ExtraLight"/>
                <a:ea typeface="Calibri"/>
                <a:cs typeface="Calibri"/>
              </a:rPr>
              <a:t>Electronics: högt ordervärde </a:t>
            </a:r>
          </a:p>
          <a:p>
            <a:pPr marL="0" marR="0" lvl="0" indent="0" algn="l" defTabSz="914400" rtl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sv-SE" altLang="sv-SE" sz="2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Calibri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sv-SE" altLang="sv-SE" sz="2000">
              <a:solidFill>
                <a:schemeClr val="bg2"/>
              </a:solidFill>
              <a:latin typeface="Abadi ExtraLight" panose="020B02040201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790D6C77-A18A-DF21-F4C3-EDB946FF3930}"/>
              </a:ext>
            </a:extLst>
          </p:cNvPr>
          <p:cNvSpPr txBox="1"/>
          <p:nvPr/>
        </p:nvSpPr>
        <p:spPr>
          <a:xfrm>
            <a:off x="7398734" y="1316297"/>
            <a:ext cx="5306475" cy="19082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eaLnBrk="0" fontAlgn="base" hangingPunct="0"/>
            <a:endParaRPr lang="sv-SE" sz="2000">
              <a:solidFill>
                <a:schemeClr val="bg2"/>
              </a:solidFill>
              <a:latin typeface="Abadi ExtraLight"/>
            </a:endParaRPr>
          </a:p>
          <a:p>
            <a:pPr>
              <a:buFont typeface="Arial"/>
              <a:buChar char="•"/>
            </a:pPr>
            <a:r>
              <a:rPr lang="sv-SE" sz="2000">
                <a:solidFill>
                  <a:schemeClr val="bg2"/>
                </a:solidFill>
                <a:latin typeface="Abadi ExtraLight"/>
                <a:ea typeface="+mn-lt"/>
                <a:cs typeface="+mn-lt"/>
              </a:rPr>
              <a:t>  Fashion: många ordrar (volymdriven) </a:t>
            </a:r>
            <a:endParaRPr lang="sv-SE">
              <a:solidFill>
                <a:schemeClr val="bg2"/>
              </a:solidFill>
              <a:latin typeface="Abadi ExtraLight"/>
            </a:endParaRPr>
          </a:p>
          <a:p>
            <a:endParaRPr lang="sv-SE" sz="2000">
              <a:solidFill>
                <a:schemeClr val="bg2"/>
              </a:solidFill>
              <a:latin typeface="Abadi ExtraLight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sv-SE" sz="2000">
                <a:solidFill>
                  <a:schemeClr val="bg2"/>
                </a:solidFill>
                <a:latin typeface="Abadi ExtraLight"/>
                <a:ea typeface="+mn-lt"/>
                <a:cs typeface="+mn-lt"/>
              </a:rPr>
              <a:t>  Försäljning drivs av pris eller volym</a:t>
            </a:r>
            <a:endParaRPr lang="sv-SE">
              <a:solidFill>
                <a:schemeClr val="bg2"/>
              </a:solidFill>
              <a:latin typeface="Abadi ExtraLight"/>
              <a:ea typeface="+mn-lt"/>
              <a:cs typeface="+mn-lt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sv-SE" altLang="sv-SE" sz="2000">
              <a:solidFill>
                <a:schemeClr val="bg2"/>
              </a:solidFill>
              <a:latin typeface="Abadi ExtraLight" panose="020B02040201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sv-SE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3B44C14B-208F-A634-A5E4-7E1B144B16F0}"/>
              </a:ext>
            </a:extLst>
          </p:cNvPr>
          <p:cNvSpPr/>
          <p:nvPr/>
        </p:nvSpPr>
        <p:spPr>
          <a:xfrm>
            <a:off x="59269" y="63212"/>
            <a:ext cx="12064998" cy="67101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961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90AB67-9DDE-9EC0-DF25-7F55140CD9A8}"/>
              </a:ext>
            </a:extLst>
          </p:cNvPr>
          <p:cNvSpPr/>
          <p:nvPr/>
        </p:nvSpPr>
        <p:spPr>
          <a:xfrm rot="5400000">
            <a:off x="6574349" y="1441023"/>
            <a:ext cx="4561143" cy="4714505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E4C579B-741D-DB41-05D6-EAA6047C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Hur skiljer sig ordervärde mellan olika </a:t>
            </a:r>
            <a:br>
              <a:rPr lang="sv-SE" sz="3200">
                <a:solidFill>
                  <a:schemeClr val="accent4">
                    <a:lumMod val="50000"/>
                  </a:schemeClr>
                </a:solidFill>
              </a:rPr>
            </a:br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kundsegment?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0AD4160-5163-25AD-E833-E3EC400B7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318" y="1690688"/>
            <a:ext cx="11125200" cy="496916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sv-SE" sz="2600" b="1">
                <a:solidFill>
                  <a:schemeClr val="bg2"/>
                </a:solidFill>
                <a:latin typeface="Abadi ExtraLight" panose="020B0204020104020204" pitchFamily="34" charset="0"/>
              </a:rPr>
              <a:t>Metod</a:t>
            </a:r>
            <a:endParaRPr lang="sv-SE" sz="2600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r>
              <a:rPr lang="sv-SE" sz="2300">
                <a:solidFill>
                  <a:schemeClr val="bg2"/>
                </a:solidFill>
                <a:latin typeface="Abadi ExtraLight" panose="020B0204020104020204" pitchFamily="34" charset="0"/>
              </a:rPr>
              <a:t>Jämförde genomsnitt &amp; median per segment </a:t>
            </a:r>
          </a:p>
          <a:p>
            <a:r>
              <a:rPr lang="sv-SE" sz="2300">
                <a:solidFill>
                  <a:schemeClr val="bg2"/>
                </a:solidFill>
                <a:latin typeface="Abadi ExtraLight"/>
              </a:rPr>
              <a:t>Analys av antal </a:t>
            </a:r>
            <a:r>
              <a:rPr lang="sv-SE" sz="2300" err="1">
                <a:solidFill>
                  <a:schemeClr val="bg2"/>
                </a:solidFill>
                <a:latin typeface="Abadi ExtraLight"/>
              </a:rPr>
              <a:t>ordrar</a:t>
            </a:r>
            <a:r>
              <a:rPr lang="sv-SE" sz="2300">
                <a:solidFill>
                  <a:schemeClr val="bg2"/>
                </a:solidFill>
                <a:latin typeface="Abadi ExtraLight"/>
              </a:rPr>
              <a:t> och andel </a:t>
            </a:r>
          </a:p>
          <a:p>
            <a:endParaRPr lang="sv-SE" sz="2300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sv-SE" sz="2600" b="1">
                <a:solidFill>
                  <a:schemeClr val="bg2"/>
                </a:solidFill>
                <a:latin typeface="Abadi ExtraLight" panose="020B0204020104020204" pitchFamily="34" charset="0"/>
              </a:rPr>
              <a:t>Resultat</a:t>
            </a:r>
            <a:endParaRPr lang="sv-SE" sz="2600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r>
              <a:rPr lang="sv-SE" sz="2300">
                <a:solidFill>
                  <a:schemeClr val="bg2"/>
                </a:solidFill>
                <a:latin typeface="Abadi ExtraLight" panose="020B0204020104020204" pitchFamily="34" charset="0"/>
              </a:rPr>
              <a:t>Small Business högst ordervärde </a:t>
            </a:r>
          </a:p>
          <a:p>
            <a:r>
              <a:rPr lang="sv-SE" sz="2300" err="1">
                <a:solidFill>
                  <a:schemeClr val="bg2"/>
                </a:solidFill>
                <a:latin typeface="Abadi ExtraLight"/>
              </a:rPr>
              <a:t>Consumer</a:t>
            </a:r>
            <a:r>
              <a:rPr lang="sv-SE" sz="2300">
                <a:solidFill>
                  <a:schemeClr val="bg2"/>
                </a:solidFill>
                <a:latin typeface="Abadi ExtraLight"/>
              </a:rPr>
              <a:t> strax efter </a:t>
            </a:r>
          </a:p>
          <a:p>
            <a:r>
              <a:rPr lang="sv-SE" sz="2300">
                <a:solidFill>
                  <a:schemeClr val="bg2"/>
                </a:solidFill>
                <a:latin typeface="Abadi ExtraLight" panose="020B0204020104020204" pitchFamily="34" charset="0"/>
              </a:rPr>
              <a:t>Corporate tydligt lägst </a:t>
            </a:r>
          </a:p>
          <a:p>
            <a:endParaRPr lang="sv-SE" sz="2300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sv-SE" sz="2300" b="1">
                <a:solidFill>
                  <a:schemeClr val="bg2"/>
                </a:solidFill>
                <a:latin typeface="Abadi ExtraLight" panose="020B0204020104020204" pitchFamily="34" charset="0"/>
              </a:rPr>
              <a:t>Insikter</a:t>
            </a:r>
            <a:endParaRPr lang="sv-SE" sz="2300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r>
              <a:rPr lang="sv-SE" sz="2300">
                <a:solidFill>
                  <a:schemeClr val="bg2"/>
                </a:solidFill>
                <a:latin typeface="Abadi ExtraLight"/>
              </a:rPr>
              <a:t>Small Business &amp; </a:t>
            </a:r>
            <a:r>
              <a:rPr lang="sv-SE" sz="2300" err="1">
                <a:solidFill>
                  <a:schemeClr val="bg2"/>
                </a:solidFill>
                <a:latin typeface="Abadi ExtraLight"/>
              </a:rPr>
              <a:t>Consumer</a:t>
            </a:r>
            <a:r>
              <a:rPr lang="sv-SE" sz="2300">
                <a:solidFill>
                  <a:schemeClr val="bg2"/>
                </a:solidFill>
                <a:latin typeface="Abadi ExtraLight"/>
              </a:rPr>
              <a:t> liknar varandra </a:t>
            </a:r>
          </a:p>
          <a:p>
            <a:r>
              <a:rPr lang="sv-SE" sz="2300">
                <a:solidFill>
                  <a:schemeClr val="bg2"/>
                </a:solidFill>
                <a:latin typeface="Abadi ExtraLight" panose="020B0204020104020204" pitchFamily="34" charset="0"/>
              </a:rPr>
              <a:t>Corporate har annan köpbeteende </a:t>
            </a:r>
          </a:p>
          <a:p>
            <a:pPr marL="0" indent="0">
              <a:buNone/>
            </a:pPr>
            <a:endParaRPr lang="sv-SE" sz="2300" b="1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sv-SE" sz="2300" b="1">
                <a:solidFill>
                  <a:schemeClr val="bg2"/>
                </a:solidFill>
                <a:latin typeface="Abadi ExtraLight" panose="020B0204020104020204" pitchFamily="34" charset="0"/>
              </a:rPr>
              <a:t>Begränsning</a:t>
            </a:r>
            <a:endParaRPr lang="sv-SE" sz="2300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r>
              <a:rPr lang="sv-SE" sz="2300" err="1">
                <a:solidFill>
                  <a:schemeClr val="bg2"/>
                </a:solidFill>
                <a:latin typeface="Abadi ExtraLight"/>
              </a:rPr>
              <a:t>Consumer</a:t>
            </a:r>
            <a:r>
              <a:rPr lang="sv-SE" sz="2300">
                <a:solidFill>
                  <a:schemeClr val="bg2"/>
                </a:solidFill>
                <a:latin typeface="Abadi ExtraLight"/>
              </a:rPr>
              <a:t> dominerar datan</a:t>
            </a:r>
            <a:endParaRPr lang="sv-SE" sz="2300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endParaRPr lang="sv-SE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C334969-C097-59E8-D5D8-430EA07B3083}"/>
              </a:ext>
            </a:extLst>
          </p:cNvPr>
          <p:cNvSpPr/>
          <p:nvPr/>
        </p:nvSpPr>
        <p:spPr>
          <a:xfrm>
            <a:off x="59269" y="63212"/>
            <a:ext cx="12064998" cy="67101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C3F375-BD9E-63D3-065E-678C48325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276" y="1633114"/>
            <a:ext cx="4417767" cy="4314004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38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17EF21-D454-6330-C891-4FB63EBB137B}"/>
              </a:ext>
            </a:extLst>
          </p:cNvPr>
          <p:cNvSpPr/>
          <p:nvPr/>
        </p:nvSpPr>
        <p:spPr>
          <a:xfrm rot="5400000">
            <a:off x="6339546" y="1091035"/>
            <a:ext cx="4242166" cy="5733458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C54E8DA-6FF0-8EB6-3AD9-DC497A71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Finns det samband mellan rabatt </a:t>
            </a:r>
            <a:br>
              <a:rPr lang="sv-SE" sz="3200">
                <a:solidFill>
                  <a:schemeClr val="accent4">
                    <a:lumMod val="50000"/>
                  </a:schemeClr>
                </a:solidFill>
              </a:rPr>
            </a:br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och ordervärde?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9BFCB30-1F27-1340-F738-DB11D64E79DC}"/>
              </a:ext>
            </a:extLst>
          </p:cNvPr>
          <p:cNvSpPr/>
          <p:nvPr/>
        </p:nvSpPr>
        <p:spPr>
          <a:xfrm>
            <a:off x="59269" y="63212"/>
            <a:ext cx="12064998" cy="67101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5" name="drawing">
            <a:extLst>
              <a:ext uri="{FF2B5EF4-FFF2-40B4-BE49-F238E27FC236}">
                <a16:creationId xmlns:a16="http://schemas.microsoft.com/office/drawing/2014/main" id="{53E94C68-E599-77DC-C7CF-9CEF14A43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63" r="863"/>
          <a:stretch>
            <a:fillRect/>
          </a:stretch>
        </p:blipFill>
        <p:spPr>
          <a:xfrm>
            <a:off x="5736274" y="2044690"/>
            <a:ext cx="5456292" cy="3817479"/>
          </a:xfrm>
          <a:prstGeom prst="round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2CEB18C0-FF8B-A686-315C-86A2E9474372}"/>
              </a:ext>
            </a:extLst>
          </p:cNvPr>
          <p:cNvSpPr txBox="1"/>
          <p:nvPr/>
        </p:nvSpPr>
        <p:spPr>
          <a:xfrm>
            <a:off x="924910" y="1690688"/>
            <a:ext cx="441960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b="1" u="sng">
                <a:solidFill>
                  <a:schemeClr val="bg2"/>
                </a:solidFill>
                <a:latin typeface="Abadi ExtraLight" panose="020B0204020104020204" pitchFamily="34" charset="0"/>
              </a:rPr>
              <a:t>Metod</a:t>
            </a:r>
            <a:endParaRPr lang="sv-SE" sz="2000" u="sng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Jämförde ordervärde och rabatt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err="1">
                <a:solidFill>
                  <a:schemeClr val="bg2"/>
                </a:solidFill>
                <a:latin typeface="Abadi ExtraLight" panose="020B0204020104020204" pitchFamily="34" charset="0"/>
              </a:rPr>
              <a:t>Scatterplot</a:t>
            </a: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 med trendlinje</a:t>
            </a:r>
          </a:p>
          <a:p>
            <a:endParaRPr lang="sv-SE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r>
              <a:rPr lang="sv-SE" sz="2000" b="1" u="sng">
                <a:solidFill>
                  <a:schemeClr val="bg2"/>
                </a:solidFill>
                <a:latin typeface="Abadi ExtraLight" panose="020B0204020104020204" pitchFamily="34" charset="0"/>
              </a:rPr>
              <a:t>Resultat</a:t>
            </a:r>
            <a:endParaRPr lang="sv-SE" sz="2000" u="sng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Inget tydligt samband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Stor variation vid låga ordervärden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Liknande köp → olika rabatter </a:t>
            </a:r>
          </a:p>
          <a:p>
            <a:endParaRPr lang="sv-SE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r>
              <a:rPr lang="sv-SE" sz="2000" b="1" u="sng">
                <a:solidFill>
                  <a:schemeClr val="bg2"/>
                </a:solidFill>
                <a:latin typeface="Abadi ExtraLight" panose="020B0204020104020204" pitchFamily="34" charset="0"/>
              </a:rPr>
              <a:t>Insikter</a:t>
            </a:r>
            <a:endParaRPr lang="sv-SE" sz="2000" u="sng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Rabatt påverkas av andra faktorer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De flesta </a:t>
            </a:r>
            <a:r>
              <a:rPr lang="sv-SE" err="1">
                <a:solidFill>
                  <a:schemeClr val="bg2"/>
                </a:solidFill>
                <a:latin typeface="Abadi ExtraLight" panose="020B0204020104020204" pitchFamily="34" charset="0"/>
              </a:rPr>
              <a:t>ordrar</a:t>
            </a: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 ligger på liknande nivå</a:t>
            </a:r>
          </a:p>
          <a:p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 </a:t>
            </a:r>
          </a:p>
          <a:p>
            <a:r>
              <a:rPr lang="sv-SE" sz="2000" b="1" u="sng">
                <a:solidFill>
                  <a:schemeClr val="bg2"/>
                </a:solidFill>
                <a:latin typeface="Abadi ExtraLight" panose="020B0204020104020204" pitchFamily="34" charset="0"/>
              </a:rPr>
              <a:t>Begränsningar</a:t>
            </a:r>
            <a:endParaRPr lang="sv-SE" sz="2000" u="sng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Extremvärden påverkar medelvärdet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Fler variabler behövs</a:t>
            </a:r>
          </a:p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6763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022485-5F2D-3B3D-954D-8FA314A2587F}"/>
              </a:ext>
            </a:extLst>
          </p:cNvPr>
          <p:cNvSpPr/>
          <p:nvPr/>
        </p:nvSpPr>
        <p:spPr>
          <a:xfrm rot="5400000">
            <a:off x="7161341" y="2491980"/>
            <a:ext cx="3465664" cy="5084921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1DACEF-2BC8-26B1-5E7F-B2F7ECF12E2A}"/>
              </a:ext>
            </a:extLst>
          </p:cNvPr>
          <p:cNvSpPr/>
          <p:nvPr/>
        </p:nvSpPr>
        <p:spPr>
          <a:xfrm rot="5400000">
            <a:off x="1411651" y="2498370"/>
            <a:ext cx="3456540" cy="5080740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454B4D6-D28F-579C-82F2-6153CED3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792"/>
            <a:ext cx="10596418" cy="1422833"/>
          </a:xfrm>
        </p:spPr>
        <p:txBody>
          <a:bodyPr>
            <a:normAutofit/>
          </a:bodyPr>
          <a:lstStyle/>
          <a:p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Vilka produktkategorier har högst försäljning hos de olika </a:t>
            </a:r>
            <a:r>
              <a:rPr lang="sv-SE" sz="3200" err="1">
                <a:solidFill>
                  <a:schemeClr val="accent4">
                    <a:lumMod val="50000"/>
                  </a:schemeClr>
                </a:solidFill>
              </a:rPr>
              <a:t>kundsegmenten</a:t>
            </a:r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0068F78-4D4B-407A-A31E-DA55AC8A3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88" y="18341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sz="2000" u="sng">
                <a:solidFill>
                  <a:schemeClr val="bg2"/>
                </a:solidFill>
                <a:latin typeface="Abadi ExtraLight" panose="020B0204020104020204" pitchFamily="34" charset="0"/>
              </a:rPr>
              <a:t>Statistisk sammanfattning</a:t>
            </a:r>
          </a:p>
          <a:p>
            <a:pPr marL="0" indent="0">
              <a:buNone/>
            </a:pPr>
            <a:endParaRPr lang="sv-SE" sz="2000" u="sng">
              <a:solidFill>
                <a:schemeClr val="bg2"/>
              </a:solidFill>
              <a:latin typeface="Abadi ExtraLight" panose="020B0204020104020204" pitchFamily="34" charset="0"/>
            </a:endParaRP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A27B9E2-5322-5FE1-649E-2D56E61F1DC1}"/>
              </a:ext>
            </a:extLst>
          </p:cNvPr>
          <p:cNvSpPr/>
          <p:nvPr/>
        </p:nvSpPr>
        <p:spPr>
          <a:xfrm>
            <a:off x="59269" y="63212"/>
            <a:ext cx="12064998" cy="67101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53CB097-5E5F-DB07-4DB8-39E8B9E9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50" y="2011530"/>
            <a:ext cx="566635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altLang="sv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v-SE" altLang="sv-SE" sz="18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Abadi ExtraLight" panose="020B0204020104020204" pitchFamily="34" charset="0"/>
              </a:rPr>
              <a:t> Försäljning analyserad per kategori och kundsegment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sv-SE" altLang="sv-SE" sz="18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Abadi ExtraLight"/>
              </a:rPr>
              <a:t> Jämförelse av total</a:t>
            </a:r>
            <a:r>
              <a:rPr lang="sv-SE" altLang="sv-SE">
                <a:solidFill>
                  <a:schemeClr val="bg2"/>
                </a:solidFill>
                <a:latin typeface="Abadi ExtraLight"/>
              </a:rPr>
              <a:t> försäljning</a:t>
            </a:r>
            <a:r>
              <a:rPr kumimoji="0" lang="sv-SE" altLang="sv-SE" sz="18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Abadi ExtraLight"/>
              </a:rPr>
              <a:t>, genomsnitt och antal </a:t>
            </a:r>
            <a:r>
              <a:rPr kumimoji="0" lang="sv-SE" altLang="sv-SE" sz="1800" b="0" i="0" u="none" strike="noStrike" cap="none" normalizeH="0" baseline="0" err="1">
                <a:ln>
                  <a:noFill/>
                </a:ln>
                <a:solidFill>
                  <a:schemeClr val="bg2"/>
                </a:solidFill>
                <a:effectLst/>
                <a:latin typeface="Abadi ExtraLight"/>
              </a:rPr>
              <a:t>ordrar</a:t>
            </a:r>
            <a:r>
              <a:rPr kumimoji="0" lang="sv-SE" altLang="sv-SE" sz="18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Abadi ExtraLight"/>
              </a:rPr>
              <a:t> </a:t>
            </a:r>
            <a:endParaRPr lang="sv-SE" altLang="sv-SE" sz="18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badi ExtraLight"/>
            </a:endParaRP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5C82E963-1469-3DC0-5741-076EC586EEB6}"/>
              </a:ext>
            </a:extLst>
          </p:cNvPr>
          <p:cNvSpPr txBox="1"/>
          <p:nvPr/>
        </p:nvSpPr>
        <p:spPr>
          <a:xfrm>
            <a:off x="6581081" y="1434829"/>
            <a:ext cx="4637193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v-SE" sz="2000" u="sng">
                <a:solidFill>
                  <a:schemeClr val="bg2"/>
                </a:solidFill>
                <a:latin typeface="Abadi ExtraLight" panose="020B0204020104020204" pitchFamily="34" charset="0"/>
              </a:rPr>
              <a:t>Resultat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Electronics dominerar i alla segment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 panose="020B0204020104020204" pitchFamily="34" charset="0"/>
              </a:rPr>
              <a:t>Beauty är minst i alla segment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>
                <a:solidFill>
                  <a:schemeClr val="bg2"/>
                </a:solidFill>
                <a:latin typeface="Abadi ExtraLight"/>
              </a:rPr>
              <a:t>Skillnader i Home och Fashion mellan Small Business och Corporate</a:t>
            </a:r>
          </a:p>
          <a:p>
            <a:endParaRPr lang="sv-SE">
              <a:solidFill>
                <a:srgbClr val="000000"/>
              </a:solidFill>
              <a:latin typeface="Aptos" panose="02110004020202020204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CAB4DCE9-7FF0-01BE-C477-5B8EAE464F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60" y="3383767"/>
            <a:ext cx="4906037" cy="3318767"/>
          </a:xfrm>
          <a:prstGeom prst="roundRect">
            <a:avLst/>
          </a:prstGeom>
          <a:noFill/>
          <a:ln>
            <a:noFill/>
          </a:ln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0ECE9930-DB25-A2BE-3144-0427D32644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870" y="3375843"/>
            <a:ext cx="4947216" cy="3322454"/>
          </a:xfrm>
          <a:prstGeom prst="round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6792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6E708C-D2DA-9F81-E706-25F27ABE4AF6}"/>
              </a:ext>
            </a:extLst>
          </p:cNvPr>
          <p:cNvSpPr/>
          <p:nvPr/>
        </p:nvSpPr>
        <p:spPr>
          <a:xfrm rot="5400000">
            <a:off x="8058475" y="2871987"/>
            <a:ext cx="1725794" cy="4829693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9489BC-64DF-841F-30EB-661DDF614A94}"/>
              </a:ext>
            </a:extLst>
          </p:cNvPr>
          <p:cNvSpPr/>
          <p:nvPr/>
        </p:nvSpPr>
        <p:spPr>
          <a:xfrm rot="5400000">
            <a:off x="8359731" y="488522"/>
            <a:ext cx="1194166" cy="5095507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AE23C1-942D-9EBC-7A4B-656938FE6E1F}"/>
              </a:ext>
            </a:extLst>
          </p:cNvPr>
          <p:cNvSpPr/>
          <p:nvPr/>
        </p:nvSpPr>
        <p:spPr>
          <a:xfrm rot="5400000">
            <a:off x="2436511" y="2327068"/>
            <a:ext cx="1229609" cy="5246135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1ED897-DFDD-996E-1585-B0F47F390B15}"/>
              </a:ext>
            </a:extLst>
          </p:cNvPr>
          <p:cNvSpPr/>
          <p:nvPr/>
        </p:nvSpPr>
        <p:spPr>
          <a:xfrm rot="5400000">
            <a:off x="2445370" y="324604"/>
            <a:ext cx="1575168" cy="5538529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B5254DC-8E36-40D2-53D0-0452B9D82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Tolkning och slutsatser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F986C2C-92F7-D613-DA43-C2A2F7239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060" y="2640788"/>
            <a:ext cx="5660066" cy="1790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70000"/>
              </a:lnSpc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Försäljning drivs av produktkategorier och kundsegment, snarare än rabatter</a:t>
            </a: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Inget tydligt samband mellan rabatt och ordervärde</a:t>
            </a: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Tyder på att rabatter inte är en avgörande faktor för att öka försäljningen</a:t>
            </a: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endParaRPr lang="sv-SE" sz="1600">
              <a:solidFill>
                <a:schemeClr val="bg2"/>
              </a:solidFill>
              <a:latin typeface="Abadi ExtraLight"/>
            </a:endParaRPr>
          </a:p>
          <a:p>
            <a:pPr marL="457200" lvl="1" indent="0">
              <a:lnSpc>
                <a:spcPct val="70000"/>
              </a:lnSpc>
              <a:buNone/>
            </a:pPr>
            <a:endParaRPr lang="sv-SE" sz="1600">
              <a:solidFill>
                <a:schemeClr val="bg2"/>
              </a:solidFill>
              <a:latin typeface="Abadi ExtraLight"/>
            </a:endParaRP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endParaRPr lang="sv-SE" sz="1600">
              <a:solidFill>
                <a:schemeClr val="bg2"/>
              </a:solidFill>
              <a:latin typeface="Abadi ExtraLight"/>
            </a:endParaRPr>
          </a:p>
          <a:p>
            <a:pPr>
              <a:lnSpc>
                <a:spcPct val="70000"/>
              </a:lnSpc>
            </a:pPr>
            <a:endParaRPr lang="sv-SE" sz="2000" b="1">
              <a:solidFill>
                <a:schemeClr val="bg2"/>
              </a:solidFill>
              <a:latin typeface="Abadi ExtraLight" panose="020B0204020104020204" pitchFamily="34" charset="0"/>
            </a:endParaRPr>
          </a:p>
          <a:p>
            <a:pPr>
              <a:lnSpc>
                <a:spcPct val="70000"/>
              </a:lnSpc>
            </a:pPr>
            <a:endParaRPr lang="sv-SE" sz="2000" b="1">
              <a:solidFill>
                <a:schemeClr val="bg2"/>
              </a:solidFill>
              <a:latin typeface="Abadi ExtraLight" panose="020B0204020104020204" pitchFamily="34" charset="0"/>
            </a:endParaRP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425EBD85-49EB-D388-B033-2BD02D413D26}"/>
              </a:ext>
            </a:extLst>
          </p:cNvPr>
          <p:cNvSpPr/>
          <p:nvPr/>
        </p:nvSpPr>
        <p:spPr>
          <a:xfrm>
            <a:off x="59269" y="63212"/>
            <a:ext cx="12064998" cy="67101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1B1EE-F27E-5301-2E47-95371BAD8E54}"/>
              </a:ext>
            </a:extLst>
          </p:cNvPr>
          <p:cNvSpPr txBox="1"/>
          <p:nvPr/>
        </p:nvSpPr>
        <p:spPr>
          <a:xfrm>
            <a:off x="463237" y="4310615"/>
            <a:ext cx="4512468" cy="1245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l">
              <a:lnSpc>
                <a:spcPct val="70000"/>
              </a:lnSpc>
              <a:spcBef>
                <a:spcPts val="500"/>
              </a:spcBef>
            </a:pPr>
            <a:endParaRPr lang="sv-SE" sz="1600">
              <a:latin typeface="Abadi ExtraLight"/>
            </a:endParaRPr>
          </a:p>
          <a:p>
            <a:pPr marL="285750" indent="-28575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Electronics: högst försäljning, följt av Home och Sports</a:t>
            </a:r>
            <a:endParaRPr lang="en-US" sz="2000">
              <a:latin typeface="Abadi ExtraLight"/>
            </a:endParaRPr>
          </a:p>
          <a:p>
            <a:pPr marL="742950" lvl="1" indent="-285750">
              <a:lnSpc>
                <a:spcPct val="70000"/>
              </a:lnSpc>
              <a:spcBef>
                <a:spcPts val="500"/>
              </a:spcBef>
              <a:buFont typeface="Calibri,Sans-Serif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Electronics är den starkaste kategorin bland alla typer av kunder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D60C2-E92B-9EBC-A87D-DD9375CBB97F}"/>
              </a:ext>
            </a:extLst>
          </p:cNvPr>
          <p:cNvSpPr txBox="1"/>
          <p:nvPr/>
        </p:nvSpPr>
        <p:spPr>
          <a:xfrm>
            <a:off x="6393379" y="2640142"/>
            <a:ext cx="5131593" cy="9660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Försäljning skiljer sig mellan kundsegment</a:t>
            </a:r>
            <a:endParaRPr lang="en-US" sz="2000">
              <a:latin typeface="Abadi ExtraLight"/>
            </a:endParaRPr>
          </a:p>
          <a:p>
            <a:pPr marL="742950" lvl="1" indent="-285750">
              <a:lnSpc>
                <a:spcPct val="70000"/>
              </a:lnSpc>
              <a:spcBef>
                <a:spcPts val="500"/>
              </a:spcBef>
              <a:buFont typeface="Calibri,Sans-Serif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Small business har högst genomsnittligt ordervärde, följt av Consumer</a:t>
            </a:r>
            <a:endParaRPr lang="sv-SE" sz="1600">
              <a:latin typeface="Abadi ExtraLight"/>
            </a:endParaRPr>
          </a:p>
          <a:p>
            <a:pPr marL="742950" lvl="1" indent="-285750">
              <a:lnSpc>
                <a:spcPct val="70000"/>
              </a:lnSpc>
              <a:spcBef>
                <a:spcPts val="500"/>
              </a:spcBef>
              <a:buFont typeface="Calibri,Sans-Serif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Corporate har lägst genomsnittligt ordervärde 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0DCFD-97B4-0374-5673-4CA3674AEE8C}"/>
              </a:ext>
            </a:extLst>
          </p:cNvPr>
          <p:cNvSpPr txBox="1"/>
          <p:nvPr/>
        </p:nvSpPr>
        <p:spPr>
          <a:xfrm>
            <a:off x="6534593" y="4601072"/>
            <a:ext cx="4857750" cy="154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Resultatet visar att företaget bör:</a:t>
            </a:r>
            <a:endParaRPr lang="en-US" sz="2000">
              <a:latin typeface="Abadi ExtraLight"/>
            </a:endParaRPr>
          </a:p>
          <a:p>
            <a:pPr marL="742950" lvl="1" indent="-285750">
              <a:lnSpc>
                <a:spcPct val="70000"/>
              </a:lnSpc>
              <a:spcBef>
                <a:spcPts val="500"/>
              </a:spcBef>
              <a:buFont typeface="Calibri,Sans-Serif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Fokusera på att stärka de mest intäktsdrivande produktkategorierna</a:t>
            </a:r>
            <a:endParaRPr lang="en-US" sz="1600">
              <a:latin typeface="Abadi ExtraLight"/>
            </a:endParaRPr>
          </a:p>
          <a:p>
            <a:pPr marL="742950" lvl="1" indent="-285750">
              <a:lnSpc>
                <a:spcPct val="70000"/>
              </a:lnSpc>
              <a:spcBef>
                <a:spcPts val="500"/>
              </a:spcBef>
              <a:buFont typeface="Calibri,Sans-Serif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Riktade insatser mot kundsegment med högt ordervärde</a:t>
            </a:r>
            <a:endParaRPr lang="en-US" sz="1600">
              <a:latin typeface="Abadi ExtraLight"/>
            </a:endParaRPr>
          </a:p>
          <a:p>
            <a:pPr marL="742950" lvl="1" indent="-285750">
              <a:lnSpc>
                <a:spcPct val="70000"/>
              </a:lnSpc>
              <a:spcBef>
                <a:spcPts val="500"/>
              </a:spcBef>
              <a:buFont typeface="Calibri,Sans-Serif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Detta kan maximera försäljningen snarare än enbart öka volymen genom rabatter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4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9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2E5FFB-FF0D-1B7E-A3F5-5653ABA6756F}"/>
              </a:ext>
            </a:extLst>
          </p:cNvPr>
          <p:cNvSpPr/>
          <p:nvPr/>
        </p:nvSpPr>
        <p:spPr>
          <a:xfrm rot="5400000">
            <a:off x="3065602" y="2256184"/>
            <a:ext cx="1211888" cy="5777761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C693E5-FB22-E0FB-08ED-BCD1D4643F68}"/>
              </a:ext>
            </a:extLst>
          </p:cNvPr>
          <p:cNvSpPr/>
          <p:nvPr/>
        </p:nvSpPr>
        <p:spPr>
          <a:xfrm rot="5400000">
            <a:off x="8049614" y="887243"/>
            <a:ext cx="1114423" cy="5990413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09625B6-1D85-536D-530F-0F0ABFB2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3200">
                <a:solidFill>
                  <a:schemeClr val="accent4">
                    <a:lumMod val="50000"/>
                  </a:schemeClr>
                </a:solidFill>
              </a:rPr>
              <a:t>Begränsningar och nästa steg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DB1C547C-4024-3C7A-B691-98BE4D8648FD}"/>
              </a:ext>
            </a:extLst>
          </p:cNvPr>
          <p:cNvSpPr/>
          <p:nvPr/>
        </p:nvSpPr>
        <p:spPr>
          <a:xfrm>
            <a:off x="59269" y="63212"/>
            <a:ext cx="12064998" cy="67101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3AA77-5E41-6299-A779-CFFAB639FF07}"/>
              </a:ext>
            </a:extLst>
          </p:cNvPr>
          <p:cNvSpPr txBox="1"/>
          <p:nvPr/>
        </p:nvSpPr>
        <p:spPr>
          <a:xfrm>
            <a:off x="5736597" y="3393836"/>
            <a:ext cx="62410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 err="1">
                <a:solidFill>
                  <a:schemeClr val="bg2"/>
                </a:solidFill>
                <a:latin typeface="Abadi ExtraLight"/>
              </a:rPr>
              <a:t>Hög</a:t>
            </a:r>
            <a:r>
              <a:rPr lang="en-US" sz="2000" b="1">
                <a:solidFill>
                  <a:schemeClr val="bg2"/>
                </a:solidFill>
                <a:latin typeface="Abadi ExtraLight"/>
              </a:rPr>
              <a:t> </a:t>
            </a:r>
            <a:r>
              <a:rPr lang="en-US" sz="2000" b="1" err="1">
                <a:solidFill>
                  <a:schemeClr val="bg2"/>
                </a:solidFill>
                <a:latin typeface="Abadi ExtraLight"/>
              </a:rPr>
              <a:t>försäljning</a:t>
            </a:r>
            <a:r>
              <a:rPr lang="en-US" sz="2000" b="1">
                <a:solidFill>
                  <a:schemeClr val="bg2"/>
                </a:solidFill>
                <a:latin typeface="Abadi ExtraLight"/>
              </a:rPr>
              <a:t> </a:t>
            </a:r>
            <a:r>
              <a:rPr lang="en-US" sz="2000" b="1" err="1">
                <a:solidFill>
                  <a:schemeClr val="bg2"/>
                </a:solidFill>
                <a:latin typeface="Abadi ExtraLight"/>
              </a:rPr>
              <a:t>behöver</a:t>
            </a:r>
            <a:r>
              <a:rPr lang="en-US" sz="2000" b="1">
                <a:solidFill>
                  <a:schemeClr val="bg2"/>
                </a:solidFill>
                <a:latin typeface="Abadi ExtraLight"/>
              </a:rPr>
              <a:t> </a:t>
            </a:r>
            <a:r>
              <a:rPr lang="en-US" sz="2000" b="1" err="1">
                <a:solidFill>
                  <a:schemeClr val="bg2"/>
                </a:solidFill>
                <a:latin typeface="Abadi ExtraLight"/>
              </a:rPr>
              <a:t>inte</a:t>
            </a:r>
            <a:r>
              <a:rPr lang="en-US" sz="2000" b="1">
                <a:solidFill>
                  <a:schemeClr val="bg2"/>
                </a:solidFill>
                <a:latin typeface="Abadi ExtraLight"/>
              </a:rPr>
              <a:t> </a:t>
            </a:r>
            <a:r>
              <a:rPr lang="en-US" sz="2000" b="1" err="1">
                <a:solidFill>
                  <a:schemeClr val="bg2"/>
                </a:solidFill>
                <a:latin typeface="Abadi ExtraLight"/>
              </a:rPr>
              <a:t>innebära</a:t>
            </a:r>
            <a:r>
              <a:rPr lang="en-US" sz="2000" b="1">
                <a:solidFill>
                  <a:schemeClr val="bg2"/>
                </a:solidFill>
                <a:latin typeface="Abadi ExtraLight"/>
              </a:rPr>
              <a:t> </a:t>
            </a:r>
            <a:r>
              <a:rPr lang="en-US" sz="2000" b="1" err="1">
                <a:solidFill>
                  <a:schemeClr val="bg2"/>
                </a:solidFill>
                <a:latin typeface="Abadi ExtraLight"/>
              </a:rPr>
              <a:t>hög</a:t>
            </a:r>
            <a:r>
              <a:rPr lang="en-US" sz="2000" b="1">
                <a:solidFill>
                  <a:schemeClr val="bg2"/>
                </a:solidFill>
                <a:latin typeface="Abadi ExtraLight"/>
              </a:rPr>
              <a:t> </a:t>
            </a:r>
            <a:r>
              <a:rPr lang="en-US" sz="2000" b="1" err="1">
                <a:solidFill>
                  <a:schemeClr val="bg2"/>
                </a:solidFill>
                <a:latin typeface="Abadi ExtraLight"/>
              </a:rPr>
              <a:t>lönsamhet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534BD-25FB-F3D0-8839-6A22E077E426}"/>
              </a:ext>
            </a:extLst>
          </p:cNvPr>
          <p:cNvSpPr txBox="1"/>
          <p:nvPr/>
        </p:nvSpPr>
        <p:spPr>
          <a:xfrm>
            <a:off x="6310312" y="3796709"/>
            <a:ext cx="42862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sv-SE">
                <a:solidFill>
                  <a:schemeClr val="bg2"/>
                </a:solidFill>
                <a:latin typeface="Abadi ExtraLight"/>
              </a:rPr>
              <a:t>Företaget rekommenderas att i framtida analyser inkludera vinstmarginaler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9CA608-41F9-9ED8-DEA0-464A8210CF50}"/>
              </a:ext>
            </a:extLst>
          </p:cNvPr>
          <p:cNvSpPr/>
          <p:nvPr/>
        </p:nvSpPr>
        <p:spPr>
          <a:xfrm rot="5400000">
            <a:off x="2892823" y="1197"/>
            <a:ext cx="1087842" cy="5325878"/>
          </a:xfrm>
          <a:prstGeom prst="roundRect">
            <a:avLst/>
          </a:prstGeom>
          <a:solidFill>
            <a:srgbClr val="1E5169">
              <a:alpha val="44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45CB73F-2F71-F2ED-DF75-8439F2A93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9276"/>
            <a:ext cx="6741042" cy="36425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70000"/>
              </a:lnSpc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Relativt litet </a:t>
            </a:r>
            <a:r>
              <a:rPr lang="sv-SE" sz="2000" b="1" err="1">
                <a:solidFill>
                  <a:schemeClr val="bg2"/>
                </a:solidFill>
                <a:latin typeface="Abadi ExtraLight"/>
              </a:rPr>
              <a:t>dataset</a:t>
            </a:r>
            <a:endParaRPr lang="sv-SE" sz="2000" b="1">
              <a:solidFill>
                <a:schemeClr val="bg2"/>
              </a:solidFill>
              <a:latin typeface="Abadi ExtraLight"/>
            </a:endParaRP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r>
              <a:rPr lang="sv-SE" sz="1800">
                <a:solidFill>
                  <a:schemeClr val="bg2"/>
                </a:solidFill>
                <a:latin typeface="Abadi ExtraLight"/>
              </a:rPr>
              <a:t>Indikationer/trender snarare än djupare analyser </a:t>
            </a: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endParaRPr lang="sv-SE" sz="2000" b="1">
              <a:solidFill>
                <a:schemeClr val="bg2"/>
              </a:solidFill>
              <a:latin typeface="Abadi ExtraLight"/>
            </a:endParaRP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endParaRPr lang="sv-SE" sz="2000" b="1">
              <a:solidFill>
                <a:schemeClr val="bg2"/>
              </a:solidFill>
              <a:latin typeface="Abadi ExtraLight"/>
            </a:endParaRP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endParaRPr lang="sv-SE" sz="2000" b="1">
              <a:solidFill>
                <a:schemeClr val="bg2"/>
              </a:solidFill>
              <a:latin typeface="Abadi ExtraLight"/>
            </a:endParaRPr>
          </a:p>
          <a:p>
            <a:pPr marL="457200" lvl="1" indent="0">
              <a:lnSpc>
                <a:spcPct val="70000"/>
              </a:lnSpc>
              <a:buNone/>
            </a:pPr>
            <a:endParaRPr lang="sv-SE" sz="2000" b="1">
              <a:solidFill>
                <a:schemeClr val="bg2"/>
              </a:solidFill>
              <a:latin typeface="Abadi ExtraLight"/>
            </a:endParaRP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endParaRPr lang="sv-SE" sz="2000" b="1">
              <a:solidFill>
                <a:schemeClr val="bg2"/>
              </a:solidFill>
              <a:latin typeface="Abadi ExtraLight"/>
            </a:endParaRPr>
          </a:p>
          <a:p>
            <a:pPr marL="457200" lvl="1" indent="0">
              <a:lnSpc>
                <a:spcPct val="70000"/>
              </a:lnSpc>
              <a:buNone/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   </a:t>
            </a:r>
            <a:endParaRPr lang="sv-SE" sz="1000">
              <a:solidFill>
                <a:schemeClr val="bg2"/>
              </a:solidFill>
              <a:latin typeface="Abadi ExtraLight"/>
            </a:endParaRPr>
          </a:p>
          <a:p>
            <a:pPr>
              <a:lnSpc>
                <a:spcPct val="70000"/>
              </a:lnSpc>
            </a:pPr>
            <a:r>
              <a:rPr lang="sv-SE" sz="2000" b="1">
                <a:solidFill>
                  <a:schemeClr val="bg2"/>
                </a:solidFill>
                <a:latin typeface="Abadi ExtraLight"/>
              </a:rPr>
              <a:t>Nästa steg</a:t>
            </a: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Djupare analys kring köpmönster runt kampanjer </a:t>
            </a: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Samt tidsanalyser</a:t>
            </a:r>
          </a:p>
          <a:p>
            <a:pPr lvl="1">
              <a:lnSpc>
                <a:spcPct val="70000"/>
              </a:lnSpc>
              <a:buFont typeface="Calibri" panose="020B0604020202020204" pitchFamily="34" charset="0"/>
              <a:buChar char="-"/>
            </a:pPr>
            <a:r>
              <a:rPr lang="sv-SE" sz="1600">
                <a:solidFill>
                  <a:schemeClr val="bg2"/>
                </a:solidFill>
                <a:latin typeface="Abadi ExtraLight"/>
              </a:rPr>
              <a:t>För att identifiera när och varför försäljningen är som högst</a:t>
            </a:r>
          </a:p>
        </p:txBody>
      </p:sp>
    </p:spTree>
    <p:extLst>
      <p:ext uri="{BB962C8B-B14F-4D97-AF65-F5344CB8AC3E}">
        <p14:creationId xmlns:p14="http://schemas.microsoft.com/office/powerpoint/2010/main" val="311940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e3688f-53b7-4e32-9078-e6d4708732f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208FDB37E9E14F953AE8A20235F8C2" ma:contentTypeVersion="9" ma:contentTypeDescription="Create a new document." ma:contentTypeScope="" ma:versionID="e4a6e1700b1276a835008d20718a73c7">
  <xsd:schema xmlns:xsd="http://www.w3.org/2001/XMLSchema" xmlns:xs="http://www.w3.org/2001/XMLSchema" xmlns:p="http://schemas.microsoft.com/office/2006/metadata/properties" xmlns:ns3="3ae3688f-53b7-4e32-9078-e6d4708732f1" targetNamespace="http://schemas.microsoft.com/office/2006/metadata/properties" ma:root="true" ma:fieldsID="4e32a6ce51027ac9d261ac147728925f" ns3:_="">
    <xsd:import namespace="3ae3688f-53b7-4e32-9078-e6d4708732f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e3688f-53b7-4e32-9078-e6d4708732f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6B0A09-C1C2-4004-BCB4-DE7161FDAD5E}">
  <ds:schemaRefs>
    <ds:schemaRef ds:uri="http://www.w3.org/XML/1998/namespace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3ae3688f-53b7-4e32-9078-e6d4708732f1"/>
  </ds:schemaRefs>
</ds:datastoreItem>
</file>

<file path=customXml/itemProps2.xml><?xml version="1.0" encoding="utf-8"?>
<ds:datastoreItem xmlns:ds="http://schemas.openxmlformats.org/officeDocument/2006/customXml" ds:itemID="{60BABA00-EBB6-4707-93C2-2711593133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F0C855-8ED6-4D9E-9674-76C647C9772C}">
  <ds:schemaRefs>
    <ds:schemaRef ds:uri="3ae3688f-53b7-4e32-9078-e6d4708732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75945ce-2ee0-4503-ba90-6fb4a03b8c30}" enabled="0" method="" siteId="{575945ce-2ee0-4503-ba90-6fb4a03b8c3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Bredbild</PresentationFormat>
  <Paragraphs>116</Paragraphs>
  <Slides>8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7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8</vt:i4>
      </vt:variant>
    </vt:vector>
  </HeadingPairs>
  <TitlesOfParts>
    <vt:vector size="16" baseType="lpstr">
      <vt:lpstr>Abadi ExtraLight</vt:lpstr>
      <vt:lpstr>Aptos</vt:lpstr>
      <vt:lpstr>Aptos Display</vt:lpstr>
      <vt:lpstr>Arial</vt:lpstr>
      <vt:lpstr>Calibri</vt:lpstr>
      <vt:lpstr>Calibri,Sans-Serif</vt:lpstr>
      <vt:lpstr>Corbel Light</vt:lpstr>
      <vt:lpstr>Office-tema</vt:lpstr>
      <vt:lpstr>R - analys</vt:lpstr>
      <vt:lpstr>Dataförståelse och förberedelser</vt:lpstr>
      <vt:lpstr>Vilka produktkategorier verkar driva  högst försäljning?</vt:lpstr>
      <vt:lpstr>Hur skiljer sig ordervärde mellan olika  kundsegment?</vt:lpstr>
      <vt:lpstr>Finns det samband mellan rabatt  och ordervärde?</vt:lpstr>
      <vt:lpstr>Vilka produktkategorier har högst försäljning hos de olika kundsegmenten?</vt:lpstr>
      <vt:lpstr>Tolkning och slutsatser</vt:lpstr>
      <vt:lpstr>Begränsningar och nästa steg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Alma Vasell</dc:creator>
  <cp:lastModifiedBy>Alma Vasell</cp:lastModifiedBy>
  <cp:revision>2</cp:revision>
  <dcterms:created xsi:type="dcterms:W3CDTF">2026-04-07T19:08:10Z</dcterms:created>
  <dcterms:modified xsi:type="dcterms:W3CDTF">2026-04-23T07:44:39Z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0x01010099208FDB37E9E14F953AE8A20235F8C2</vt:lpwstr>
  </property>
</Properties>
</file>